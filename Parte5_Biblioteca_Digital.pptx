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Sistema de Biblioteca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383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A86C8"/>
                </a:solidFill>
                <a:latin typeface="Calibri"/>
              </a:defRPr>
            </a:pPr>
            <a:r>
              <a:t>Projeto de Desenvolvimento de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114800"/>
            <a:ext cx="3047695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DD"/>
                </a:solidFill>
                <a:latin typeface="Calibri"/>
              </a:defRPr>
            </a:pPr>
            <a:r>
              <a:t>Engenharia de Software — Análise e Desenvolvimento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937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BB"/>
                </a:solidFill>
                <a:latin typeface="Calibri"/>
              </a:defRPr>
            </a:pPr>
            <a:r>
              <a:t>Professor: Danilson Ranniere Silva Ferro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852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799"/>
                </a:solidFill>
                <a:latin typeface="Calibri"/>
              </a:defRPr>
            </a:pPr>
            <a:r>
              <a:t>Caxias, Maranhão — Março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📋  Agenda da Apresentação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Objetivo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O que é e para que serve a Biblioteca Digital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Usuários do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68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Quem vai utilizar a plataforma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01752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Funcionalidades Principais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291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Recursos essenciais do sistema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84048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Riscos do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114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Ameaças ao sucesso do desenvolvimento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66344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Etapas do Desenvolvimento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Ciclo de vida do projeto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48640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Problemas Potenciais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Dificuldades que podem surgir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🎯  Objetivo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Desenvolver uma plataforma digital completa para gerenciamento de acervo bibliográfico, permitindo que instituições de ensino e bibliotecas públicas ofereçam acesso remoto ao seu catálogo de livros, periódicos e materiais acadêmicos.</a:t>
            </a:r>
            <a:br/>
            <a:br/>
            <a:r>
              <a:t>O sistema visa modernizar o processo de empréstimo, devolução e consulta de obras, eliminando filas e burocracias, além de disponibilizar versões digitais (e-books e PDFs) para leitura online.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A4A4A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Acesso Remoto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Consulta ao acervo</a:t>
            </a:r>
            <a:br/>
            <a:r>
              <a:t>de qualquer lugar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84048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A4A4A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Agilidade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Empréstimos e devoluções</a:t>
            </a:r>
            <a:br/>
            <a:r>
              <a:t>sem filas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4048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A4A4A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Busca Inteligente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Pesquisa por título,</a:t>
            </a:r>
            <a:br/>
            <a:r>
              <a:t>autor ou assunto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840480"/>
            <a:ext cx="24688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A4A4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Relatórios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Dados sobre uso</a:t>
            </a:r>
            <a:br/>
            <a:r>
              <a:t>do acervo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👥  Quem São os Usuários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651760" cy="7315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A4A4A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A86C8"/>
                </a:solidFill>
                <a:latin typeface="Calibri"/>
              </a:defRPr>
            </a:pPr>
            <a:r>
              <a:t>Alunos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Calibri"/>
              </a:defRPr>
            </a:pPr>
            <a:r>
              <a:t>Estudantes de graduação e</a:t>
            </a:r>
            <a:br/>
            <a:r>
              <a:t>pós-graduação que precisam</a:t>
            </a:r>
            <a:br/>
            <a:r>
              <a:t>consultar e emprestar livros</a:t>
            </a:r>
            <a:br/>
            <a:r>
              <a:t>para seus estudos.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5176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A4A4A"/>
                </a:solidFill>
                <a:latin typeface="Calibri"/>
              </a:defRPr>
            </a:pPr>
            <a:r>
              <a:t>👨‍🏫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8A"/>
                </a:solidFill>
                <a:latin typeface="Calibri"/>
              </a:defRPr>
            </a:pPr>
            <a:r>
              <a:t>Professores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Calibri"/>
              </a:defRPr>
            </a:pPr>
            <a:r>
              <a:t>Docentes que necessitam</a:t>
            </a:r>
            <a:br/>
            <a:r>
              <a:t>reservar materiais para</a:t>
            </a:r>
            <a:br/>
            <a:r>
              <a:t>disciplinas e indicar</a:t>
            </a:r>
            <a:br/>
            <a:r>
              <a:t>bibliografias aos alunos.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65176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A4A4A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2A4A"/>
                </a:solidFill>
                <a:latin typeface="Calibri"/>
              </a:defRPr>
            </a:pPr>
            <a:r>
              <a:t>Bibliotecários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175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Calibri"/>
              </a:defRPr>
            </a:pPr>
            <a:r>
              <a:t>Profissionais responsáveis</a:t>
            </a:r>
            <a:br/>
            <a:r>
              <a:t>pelo cadastro de obras,</a:t>
            </a:r>
            <a:br/>
            <a:r>
              <a:t>controle de acervo e</a:t>
            </a:r>
            <a:br/>
            <a:r>
              <a:t>gestão de empréstimos.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6517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651760" cy="731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A4A4A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21B6"/>
                </a:solidFill>
                <a:latin typeface="Calibri"/>
              </a:defRPr>
            </a:pPr>
            <a:r>
              <a:t>Administradores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0175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Calibri"/>
              </a:defRPr>
            </a:pPr>
            <a:r>
              <a:t>Gestores do sistema com</a:t>
            </a:r>
            <a:br/>
            <a:r>
              <a:t>acesso a relatórios,</a:t>
            </a:r>
            <a:br/>
            <a:r>
              <a:t>configurações e controle</a:t>
            </a:r>
            <a:br/>
            <a:r>
              <a:t>de permissões.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⚙️  Principais Funcionalidades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Cadastro e Catalogação de Obras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Registro completo de livros, periódicos, e-books e materiais acadêmicos com informações como título, autor, ISBN, editora, edição, ano e categoria. Suporte a código de barras e QR Code para identificação rápida.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60604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Sistema de Empréstimo e Devolução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Controle automatizado de empréstimos com definição de prazos, renovações online e alertas de vencimento por e-mail/notificação. Multas automáticas para atrasos com possibilidade de pagamento online.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977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Busca Avançada e Filtros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343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Motor de busca com pesquisa por título, autor, palavra-chave, ISBN ou categoria. Filtros por disponibilidade, tipo de material, ano de publicação e área do conhecimento. Sugestões automáticas de obras relacionadas.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03519"/>
            <a:ext cx="457200" cy="4572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257799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530351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Reserva Online de Livros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66927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Permite que o usuário reserve livros que estão emprestados, entrando em uma fila de espera com notificação automática quando o exemplar estiver disponível para retirada.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⚙️  Principais Funcionalidades (cont.)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Leitura Digital (E-books / PDFs)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Visualizador integrado para leitura de obras digitais diretamente na plataforma, com marcadores, anotações pessoais e modo noturno. Controle de DRM para proteger direitos autorais.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65176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97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Painel Administrativo e Relatórios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63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Dashboard com estatísticas de uso: livros mais emprestados, horários de pico, usuários mais ativos e obras em atraso. Geração de relatórios em PDF para a gestão da instituição.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02336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Notificações e Alertas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34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Sistema de avisos por e-mail e push sobre prazos de devolução, novas aquisições do acervo, disponibilidade de reservas e eventos da biblioteca.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303520"/>
            <a:ext cx="100584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394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✅ Total: 7 funcionalidades principais que cobrem todo o ciclo de uso da biblioteca — do cadastro à leitura digital, passando por empréstimos, buscas, reservas e gestão administrativa.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⚠️  Possíveis Riscos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9601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18872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3545"/>
                </a:solidFill>
                <a:latin typeface="Calibri"/>
              </a:defRPr>
            </a:pPr>
            <a:r>
              <a:t>🔴 ALTO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Segurança de Dados dos Usuários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3444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Vazamento de informações pessoais (CPF, endereço, histórico de leitura) pode gerar processos judiciais e violar a LGPD. É necessário implementar criptografia, autenticação robusta e backups regulares.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67712"/>
            <a:ext cx="73152" cy="9601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267712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D7E14"/>
                </a:solidFill>
                <a:latin typeface="Calibri"/>
              </a:defRPr>
            </a:pPr>
            <a:r>
              <a:t>🟠 ALTO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Resistência à Adoção por Parte dos Usuários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13432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Bibliotecários e usuários acostumados ao sistema manual podem resistir à migração digital. Treinamentos insuficientes podem levar ao abandono do sistema e retorno aos processos antigos.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46704"/>
            <a:ext cx="73152" cy="9601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346704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924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Calibri"/>
              </a:defRPr>
            </a:pPr>
            <a:r>
              <a:t>🟡 MÉDIO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21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Indisponibilidade do Sistema (Downtime)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92424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Falhas de servidor, quedas de internet ou bugs podem tornar o acervo inacessível, prejudicando alunos em período de provas ou pesquisas. Plano de contingência e hospedagem redundante são essenciais.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25696"/>
            <a:ext cx="73152" cy="9601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" y="4425696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714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Calibri"/>
              </a:defRPr>
            </a:pPr>
            <a:r>
              <a:t>🟡 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00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Escopo Mal Definido (Scope Creep)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71416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Solicitações constantes de novas funcionalidades durante o desenvolvimento podem atrasar entregas e estourar o orçamento. Gestão rigorosa de requisitos e controle de mudanças são fundamentais.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04688"/>
            <a:ext cx="73152" cy="9601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5504688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550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🟢 BAIXO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79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Incompatibilidade com Dispositivos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55040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O sistema pode não funcionar adequadamente em navegadores antigos ou dispositivos móveis. Testes de compatibilidade e design responsivo minimizam esse risco.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🔄  Etapas do Desenvolvimento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Metodologia: Modelo Incremental com práticas ágeis (Scrum)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20" y="2286000"/>
            <a:ext cx="27432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2011680" y="2194560"/>
            <a:ext cx="137160" cy="228600"/>
          </a:xfrm>
          <a:prstGeom prst="chevron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2286000"/>
            <a:ext cx="54864" cy="36576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1417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Levantamento</a:t>
            </a:r>
            <a:br/>
            <a:r>
              <a:t>de Requisitos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6616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Calibri"/>
              </a:defRPr>
            </a:pPr>
            <a:r>
              <a:t>Entrevistas com</a:t>
            </a:r>
            <a:br/>
            <a:r>
              <a:t>bibliotecários, alunos</a:t>
            </a:r>
            <a:br/>
            <a:r>
              <a:t>e professores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3776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⏱ 2 semanas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286000"/>
            <a:ext cx="27432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3703320" y="2194560"/>
            <a:ext cx="137160" cy="228600"/>
          </a:xfrm>
          <a:prstGeom prst="chevron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68880" y="173736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5768" y="2286000"/>
            <a:ext cx="54864" cy="36576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0" y="2743200"/>
            <a:ext cx="1417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28346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Análise e</a:t>
            </a:r>
            <a:br/>
            <a:r>
              <a:t>Modelagem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56616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Calibri"/>
              </a:defRPr>
            </a:pPr>
            <a:r>
              <a:t>Diagramas UML,</a:t>
            </a:r>
            <a:br/>
            <a:r>
              <a:t>protótipos de tela</a:t>
            </a:r>
            <a:br/>
            <a:r>
              <a:t>e arquitetura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493776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⏱ 3 semanas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2286000"/>
            <a:ext cx="27432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5394960" y="2194560"/>
            <a:ext cx="137160" cy="228600"/>
          </a:xfrm>
          <a:prstGeom prst="chevron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173736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2286000"/>
            <a:ext cx="54864" cy="36576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40" y="2743200"/>
            <a:ext cx="1417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8346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Projeto</a:t>
            </a:r>
            <a:br/>
            <a:r>
              <a:t>(Design)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56616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Calibri"/>
              </a:defRPr>
            </a:pPr>
            <a:r>
              <a:t>Interface UI/UX,</a:t>
            </a:r>
            <a:br/>
            <a:r>
              <a:t>banco de dados</a:t>
            </a:r>
            <a:br/>
            <a:r>
              <a:t>e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93776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⏱ 2 semanas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286000"/>
            <a:ext cx="27432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7086600" y="2194560"/>
            <a:ext cx="137160" cy="228600"/>
          </a:xfrm>
          <a:prstGeom prst="chevron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52160" y="173736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8" y="2286000"/>
            <a:ext cx="54864" cy="36576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2743200"/>
            <a:ext cx="1417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28346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Implementação</a:t>
            </a:r>
            <a:br/>
            <a:r>
              <a:t>(Codificação)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56616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Calibri"/>
              </a:defRPr>
            </a:pPr>
            <a:r>
              <a:t>Desenvolvimento</a:t>
            </a:r>
            <a:br/>
            <a:r>
              <a:t>frontend, backend</a:t>
            </a:r>
            <a:br/>
            <a:r>
              <a:t>e integração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493776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⏱ 8 semanas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2286000"/>
            <a:ext cx="27432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vron 37"/>
          <p:cNvSpPr/>
          <p:nvPr/>
        </p:nvSpPr>
        <p:spPr>
          <a:xfrm>
            <a:off x="8778240" y="2194560"/>
            <a:ext cx="137160" cy="228600"/>
          </a:xfrm>
          <a:prstGeom prst="chevron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43800" y="173736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90688" y="2286000"/>
            <a:ext cx="54864" cy="36576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0" y="2743200"/>
            <a:ext cx="1417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28346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Testes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56616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Calibri"/>
              </a:defRPr>
            </a:pPr>
            <a:r>
              <a:t>Unitários, integração,</a:t>
            </a:r>
            <a:br/>
            <a:r>
              <a:t>usabilidade e</a:t>
            </a:r>
            <a:br/>
            <a:r>
              <a:t>desempenho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69480" y="493776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⏱ 3 semanas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32720" y="2286000"/>
            <a:ext cx="27432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10469880" y="2194560"/>
            <a:ext cx="137160" cy="228600"/>
          </a:xfrm>
          <a:prstGeom prst="chevron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35440" y="173736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82328" y="2286000"/>
            <a:ext cx="54864" cy="36576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23960" y="2743200"/>
            <a:ext cx="1417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28346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Implantação</a:t>
            </a:r>
            <a:br/>
            <a:r>
              <a:t>e Treinamento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56616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Calibri"/>
              </a:defRPr>
            </a:pPr>
            <a:r>
              <a:t>Deploy, migração</a:t>
            </a:r>
            <a:br/>
            <a:r>
              <a:t>de dados e</a:t>
            </a:r>
            <a:br/>
            <a:r>
              <a:t>capacitação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493776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⏱ 2 semanas</a:t>
            </a:r>
          </a:p>
        </p:txBody>
      </p:sp>
      <p:sp>
        <p:nvSpPr>
          <p:cNvPr id="53" name="Oval 52"/>
          <p:cNvSpPr/>
          <p:nvPr/>
        </p:nvSpPr>
        <p:spPr>
          <a:xfrm>
            <a:off x="10927080" y="1737360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173968" y="2286000"/>
            <a:ext cx="54864" cy="36576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515600" y="2743200"/>
            <a:ext cx="1417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61320" y="28346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Manutenção</a:t>
            </a:r>
            <a:br/>
            <a:r>
              <a:t>e Evolução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356616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4A"/>
                </a:solidFill>
                <a:latin typeface="Calibri"/>
              </a:defRPr>
            </a:pPr>
            <a:r>
              <a:t>Correções, updates</a:t>
            </a:r>
            <a:br/>
            <a:r>
              <a:t>e novas features</a:t>
            </a:r>
            <a:br/>
            <a:r>
              <a:t>contínuas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52760" y="493776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⏱ Contínuo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6035040"/>
            <a:ext cx="594360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0" y="6080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📅  Prazo estimado total: ~20 semanas (5 meses) + manutenção contínua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🚧  Problemas que Podem Ocorrer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4A4A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Comunicação Falha na 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Mal-entendidos entre desenvolvedores, designers e o cliente podem gerar funcionalidades que não atendem à necessidade real. Reuniões periódicas (dailys e sprints) ajudam a mitigar esse problema.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4A4A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Mudanças Constantes de Requisitos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O cliente pode solicitar alterações frequentes durante o desenvolvimento, gerando retrabalho e atrasos. Um contrato de escopo bem definido e processo formal de change requests são fundamentais.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4A4A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Problemas de Integração com Sistemas Legados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A biblioteca pode já possuir sistemas antigos (planilhas, bancos Access) cujos dados precisam ser migrados. Formatos incompatíveis e dados inconsistentes tornam a migração complexa e propensa a erros.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4A4A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Subestimação de Prazos e Custos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474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Equipes inexperientes podem estimar prazos otimistas demais, sem considerar imprevistos técnicos, curva de aprendizado e período de testes. Isso gera pressão excessiva e queda de qualidade.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4A4A"/>
                </a:solidFill>
                <a:latin typeface="Calibri"/>
              </a:defRPr>
            </a:pPr>
            <a:r>
              <a:t>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Falta de Testes Adequados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03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Pular etapas de testes para cumprir prazos pode levar a bugs em produção, perdas de dados e frustração dos usuários. Automação de testes e QA dedicado são investimentos necessários.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84632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4A4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Problemas de Desempenho sob Carga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303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Em períodos de matrícula ou provas, muitos acessos simultâneos podem derrubar o sistema se não houver planejamento de escalabilidade, cache e otimização de consultas ao banco.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✅ 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O Sistema de Biblioteca Digital representa uma solução moderna e necessária para instituições de ensino que buscam otimizar a gestão do seu acervo e oferecer uma experiência digital de qualidade aos seus usuários.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474720"/>
            <a:ext cx="411480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✔  7 funcionalidades essenciais mapeadas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977640"/>
            <a:ext cx="411480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995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✔  5 riscos identificados e classificados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480560"/>
            <a:ext cx="411480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498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✔  7 etapas de desenvolvimento planejadas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983480"/>
            <a:ext cx="411480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001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✔  6 problemas potenciais antecipados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6692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107"/>
                </a:solidFill>
                <a:latin typeface="Calibri"/>
              </a:defRPr>
            </a:pPr>
            <a:r>
              <a:t>"Um bom software não nasce do código,</a:t>
            </a:r>
            <a:br/>
            <a:r>
              <a:t>nasce do planejamento."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A86C8"/>
                </a:solidFill>
                <a:latin typeface="Calibri"/>
              </a:defRPr>
            </a:pPr>
            <a:r>
              <a:t>📚 Sistema de Biblioteca Digital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33295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DD"/>
                </a:solidFill>
                <a:latin typeface="Calibri"/>
              </a:defRPr>
            </a:pPr>
            <a:r>
              <a:t>Dúvidas ou sugestões?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7799"/>
                </a:solidFill>
                <a:latin typeface="Calibri"/>
              </a:defRPr>
            </a:pPr>
            <a:r>
              <a:t>Engenharia de Software — ADS — Caxias/MA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